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528255" y="868680"/>
            <a:ext cx="5120640" cy="5120640"/>
          </a:xfrm>
          <a:prstGeom prst="ellipse">
            <a:avLst/>
          </a:prstGeom>
          <a:noFill/>
          <a:ln w="12700">
            <a:solidFill>
              <a:srgbClr val="D4A03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68335" y="1508760"/>
            <a:ext cx="3840480" cy="3840480"/>
          </a:xfrm>
          <a:prstGeom prst="ellipse">
            <a:avLst/>
          </a:prstGeom>
          <a:noFill/>
          <a:ln w="12700">
            <a:solidFill>
              <a:srgbClr val="D4A03C">
                <a:alpha val="2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08415" y="2148840"/>
            <a:ext cx="2560320" cy="2560320"/>
          </a:xfrm>
          <a:prstGeom prst="ellipse">
            <a:avLst/>
          </a:prstGeom>
          <a:noFill/>
          <a:ln w="12700">
            <a:solidFill>
              <a:srgbClr val="D4A03C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32543" y="3172968"/>
            <a:ext cx="512064" cy="512064"/>
          </a:xfrm>
          <a:prstGeom prst="ellipse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170432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spc="180">
                <a:solidFill>
                  <a:srgbClr val="D4A03C"/>
                </a:solidFill>
                <a:latin typeface="Segoe UI"/>
              </a:rPr>
              <a:t>CAPGEMINI AI LAUNCHPAD  ·  CAPSTONE USE CASE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5F0E6"/>
                </a:solidFill>
                <a:latin typeface="Georgia"/>
              </a:rPr>
              <a:t>Loan Application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5F0E6"/>
                </a:solidFill>
                <a:latin typeface="Georgia"/>
              </a:rPr>
              <a:t>&amp; Compliance Review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D4A03C"/>
                </a:solidFill>
                <a:latin typeface="Georgia"/>
              </a:rPr>
              <a:t>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133087"/>
            <a:ext cx="1371600" cy="3175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6CEDE"/>
                </a:solidFill>
                <a:latin typeface="Segoe UI"/>
              </a:rPr>
              <a:t>A privacy-aware, human-in-the-loop AI assistant for grounded loan guidance, evidence validation and deterministic eligibility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58384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Aayush Mathur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Consolas"/>
              </a:rPr>
              <a:t>.NET 8  ·  Clean Architecture  ·  Azure OpenAI  · 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37215" y="5148072"/>
            <a:ext cx="3108960" cy="3108960"/>
          </a:xfrm>
          <a:prstGeom prst="ellipse">
            <a:avLst/>
          </a:prstGeom>
          <a:noFill/>
          <a:ln w="13970">
            <a:solidFill>
              <a:srgbClr val="D4A03C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883664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The problem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Why loan intake resists naive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33472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0167" y="1901952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9975" y="1883664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The solution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A human-in-the-loop assistant, and its four pillars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2633472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944368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926080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Key features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Ten capabilities mapped to FR-01 – FR-10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75888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0167" y="2944368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9975" y="2926080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Users &amp; permissions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Four personas with bounded mandates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7" y="3675888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986784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968496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Architecture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Clean Architecture layers and runtime topology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718304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3986784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9975" y="3968496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Agent orchestration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Three bounded specialists and the deterministic override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167" y="4718304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5029200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5010912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Workflows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Flows A, B, C and D end to 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760720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0167" y="5029200"/>
            <a:ext cx="658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03C"/>
                </a:solidFill>
                <a:latin typeface="Georgia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9975" y="5010912"/>
            <a:ext cx="43219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Governance &amp; evaluation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Business rules, security results, delivery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167" y="5760720"/>
            <a:ext cx="5035143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92663" y="-1305763"/>
            <a:ext cx="3108960" cy="3108960"/>
          </a:xfrm>
          <a:prstGeom prst="ellipse">
            <a:avLst/>
          </a:prstGeom>
          <a:noFill/>
          <a:ln w="13970">
            <a:solidFill>
              <a:srgbClr val="E87A6B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Loan intake is slow, inconsistent and hard to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Officers reconcile scattered evidence by hand, while naive AI automation introduces regulatory risk it cannot be trusted to carry.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2430703" cy="301752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29968"/>
            <a:ext cx="44450" cy="301752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19186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E87A6B"/>
                </a:solidFill>
                <a:latin typeface="Georgia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Fragmented evidence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Payslips, IDs and bank statements arrive in mixed formats. Facts are re-keyed manually, with no field-level provenance linking a number back to its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3119" y="2029968"/>
            <a:ext cx="2430703" cy="301752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3119" y="2029968"/>
            <a:ext cx="44450" cy="301752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7439" y="2304288"/>
            <a:ext cx="19186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E87A6B"/>
                </a:solidFill>
                <a:latin typeface="Georgia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Unverifiable answers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Applicants get product guidance that cites nothing. When policy versions change, stale answers persist and conflicts go undetected.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7871" y="2029968"/>
            <a:ext cx="2430703" cy="301752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7871" y="2029968"/>
            <a:ext cx="44450" cy="301752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2191" y="2304288"/>
            <a:ext cx="19186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E87A6B"/>
                </a:solidFill>
                <a:latin typeface="Georgia"/>
              </a:rPr>
              <a:t>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Inconsistent assessment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Affordability is computed ad hoc across spreadsheets. Identical applicants can receive different outcomes depending on who reviews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2623" y="2029968"/>
            <a:ext cx="2430703" cy="301752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02623" y="2029968"/>
            <a:ext cx="44450" cy="301752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6943" y="2304288"/>
            <a:ext cx="19186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E87A6B"/>
                </a:solidFill>
                <a:latin typeface="Georgia"/>
              </a:rPr>
              <a:t>04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Unsafe AI shortcuts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An LLM asked to decide will hallucinate figures, invent policy and expose PII — an unacceptable risk in a regulated credit process.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358384"/>
            <a:ext cx="10874959" cy="566928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5358384"/>
            <a:ext cx="44450" cy="566928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550468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5F0E6"/>
                </a:solidFill>
                <a:latin typeface="Segoe UI"/>
              </a:rPr>
              <a:t>The core tension  —  lenders need AI speed and grounding, but regulation requires that a human, not a model, owns every credit decision.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92663" y="-1305763"/>
            <a:ext cx="3108960" cy="3108960"/>
          </a:xfrm>
          <a:prstGeom prst="ellipse">
            <a:avLst/>
          </a:prstGeom>
          <a:noFill/>
          <a:ln w="13970">
            <a:solidFill>
              <a:srgbClr val="D4A03C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An assistant that prepares the decision — never makes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Every figure is traced to a timestamped tool result or a confirmed field; every eligibility outcome is computed by deterministic domain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10874959" cy="1280160"/>
          </a:xfrm>
          <a:prstGeom prst="rect">
            <a:avLst/>
          </a:prstGeom>
          <a:solidFill>
            <a:srgbClr val="1B2C57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31136"/>
            <a:ext cx="101434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 dirty="0">
                <a:solidFill>
                  <a:srgbClr val="F0C86B"/>
                </a:solidFill>
                <a:latin typeface="Georgia"/>
              </a:rPr>
              <a:t>“The LLM explains, retrieves and drafts.  Deterministic C# calculates.  A licensed officer decides.”</a:t>
            </a:r>
            <a:endParaRPr lang="en-US" sz="1900" b="1" i="0" dirty="0">
              <a:solidFill>
                <a:srgbClr val="F0C86B"/>
              </a:solidFill>
              <a:latin typeface="Georgia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1100" b="0" i="0" dirty="0">
                <a:solidFill>
                  <a:srgbClr val="8A97B0"/>
                </a:solidFill>
                <a:latin typeface="Segoe UI"/>
              </a:rPr>
              <a:t>Architectural guarantee enforced in code — not a prompt 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47872"/>
            <a:ext cx="2430703" cy="192024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3547872"/>
            <a:ext cx="44450" cy="192024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03904"/>
            <a:ext cx="193692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3DC8B4"/>
                </a:solidFill>
                <a:latin typeface="Georgia"/>
              </a:rPr>
              <a:t>Grounded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Version-filtered RAG over an Azure AI Search policy index. Every product statement cites source, version and section.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3119" y="3547872"/>
            <a:ext cx="2430703" cy="192024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3119" y="3547872"/>
            <a:ext cx="44450" cy="19202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9151" y="3803904"/>
            <a:ext cx="193692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D4A03C"/>
                </a:solidFill>
                <a:latin typeface="Georgia"/>
              </a:rPr>
              <a:t>Deterministic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DTI, LTV and threshold rules live in pure Loan.Domain C#. Model arithmetic is never authoritative.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7871" y="3547872"/>
            <a:ext cx="2430703" cy="192024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7871" y="3547872"/>
            <a:ext cx="44450" cy="1920240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3903" y="3803904"/>
            <a:ext cx="193692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8B7AD4"/>
                </a:solidFill>
                <a:latin typeface="Georgia"/>
              </a:rPr>
              <a:t>Bounded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Document, Eligibility and Compliance agents each hold a narrow mandate and cannot exceed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2623" y="3547872"/>
            <a:ext cx="2430703" cy="192024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02623" y="3547872"/>
            <a:ext cx="44450" cy="192024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8655" y="3803904"/>
            <a:ext cx="193692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E87A6B"/>
                </a:solidFill>
                <a:latin typeface="Georgia"/>
              </a:rPr>
              <a:t>Governed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6CEDE"/>
                </a:solidFill>
                <a:latin typeface="Segoe UI"/>
              </a:rPr>
              <a:t>PII masking, prompt-injection defence, tenant isolation, RBAC and an immutable audit trail.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What the system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Ten capabilities mapped directly to the capstone's mandatory functional requirements FR-01 to FR-10.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2084832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Grounded product Q&amp;A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Version-filtered retrieval with source, version and section citations on every claim.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98064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6159" y="2148840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4255" y="2084832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Document intake &amp; extraction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Type/size validation, five document categories, field-level provenance captured on extraction.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6159" y="2798064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3008376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2944368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Low-confidence confirmation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Fields below 0.85 confidence are held for applicant or officer confirmation.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6159" y="3008376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4255" y="2944368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Typed verification tools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Identity, income and credit read through scoped, allow-listed synthetic readers.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6159" y="3657600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3867912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3803904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Deterministic eligibility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DTI and LTV computed in Loan.Domain with zero-income guards and exact boundary rules.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17136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6159" y="3867912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4255" y="3803904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Multi-agent orchestration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Document → Eligibility → Compliance agents run in bounded, instrumented stages.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6159" y="4517136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8368" y="4727448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4663440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Schema-valid draft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RecommendationDraft carries facts, evidence, exceptions and unresolvedItems.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376672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6159" y="4727448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4255" y="4663440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Officer-only approval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State changes require an authorised officer; every change writes an audit entry.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6159" y="5376672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5586984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5522976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MCP tool server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JSON-RPC 2.0 over Streamable HTTP, exposing five approved operations.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236208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06159" y="5586984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FR-10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4255" y="5522976"/>
            <a:ext cx="4331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5F0E6"/>
                </a:solidFill>
                <a:latin typeface="Segoe UI"/>
              </a:rPr>
              <a:t>Telemetry &amp; evaluation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A97B0"/>
                </a:solidFill>
                <a:latin typeface="Segoe UI"/>
              </a:rPr>
              <a:t>Tokens, latency, tool metrics and a repeatable 20-prompt suite.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6159" y="6236208"/>
            <a:ext cx="5135727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37215" y="5148072"/>
            <a:ext cx="3108960" cy="3108960"/>
          </a:xfrm>
          <a:prstGeom prst="ellipse">
            <a:avLst/>
          </a:prstGeom>
          <a:noFill/>
          <a:ln w="13970">
            <a:solidFill>
              <a:srgbClr val="8B7AD4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USERS &amp;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Four personas, four bounded mandates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Role-based authorization on ASP.NET Core Identity. Capability limits are enforced server-side, not merely hidden in the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2444419" cy="3692406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29968"/>
            <a:ext cx="2444419" cy="4445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95064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DC8B4"/>
                </a:solidFill>
                <a:latin typeface="Georgia"/>
              </a:rPr>
              <a:t>Applicant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PERMITTED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Ask grounded product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Upload synthetic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42816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Confirm extracted facts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773168"/>
            <a:ext cx="1932355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CANNOT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93792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87A6B"/>
                </a:solidFill>
                <a:latin typeface="Segoe UI"/>
              </a:rPr>
              <a:t>✕  See another applicant's application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8547" y="2029968"/>
            <a:ext cx="2444419" cy="3692406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68547" y="2029968"/>
            <a:ext cx="2444419" cy="4445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24579" y="2286000"/>
            <a:ext cx="195064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A03C"/>
                </a:solidFill>
                <a:latin typeface="Georgia"/>
              </a:rPr>
              <a:t>Loan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579" y="299923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PERMITTED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4579" y="3291840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Correct and override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4579" y="3767328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Request verification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4579" y="4242816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Approve or return a draft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24579" y="4773168"/>
            <a:ext cx="1932355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24579" y="491947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CANNOT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4579" y="5193792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87A6B"/>
                </a:solidFill>
                <a:latin typeface="Segoe UI"/>
              </a:rPr>
              <a:t>✕  Bypass the audit trail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8727" y="2029968"/>
            <a:ext cx="2444419" cy="3692406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8727" y="2029968"/>
            <a:ext cx="2444419" cy="44450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4759" y="2286000"/>
            <a:ext cx="195064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7AD4"/>
                </a:solidFill>
                <a:latin typeface="Georgia"/>
              </a:rPr>
              <a:t>Compliance Reviewer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4759" y="299923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PERMITTED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759" y="3291840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Review policy exceptions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759" y="3767328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Inspect audit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4759" y="4242816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Verify citations &amp; consent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4759" y="4773168"/>
            <a:ext cx="1932355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4759" y="491947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CANNOT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4759" y="5193792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87A6B"/>
                </a:solidFill>
                <a:latin typeface="Segoe UI"/>
              </a:rPr>
              <a:t>✕  Alter any source fact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88907" y="2029968"/>
            <a:ext cx="2444419" cy="3692406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88907" y="2029968"/>
            <a:ext cx="2444419" cy="4445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44939" y="2286000"/>
            <a:ext cx="195064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7A6B"/>
                </a:solidFill>
                <a:latin typeface="Georgia"/>
              </a:rPr>
              <a:t>Administrator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4939" y="299923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PERMITTED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4939" y="3291840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Manage prompts &amp; indexes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4939" y="3767328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Manage roles and limits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4939" y="4242816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Access telemetry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44939" y="4773168"/>
            <a:ext cx="1932355" cy="9525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44939" y="4919472"/>
            <a:ext cx="195064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8A97B0"/>
                </a:solidFill>
                <a:latin typeface="Segoe UI"/>
              </a:rPr>
              <a:t>CANNOT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4939" y="5193792"/>
            <a:ext cx="1950643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87A6B"/>
                </a:solidFill>
                <a:latin typeface="Segoe UI"/>
              </a:rPr>
              <a:t>✕  Participate in credit decisions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Clean Architecture — dependencies point inward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Five projects, one composition root. Loan.Domain references no SDK, no database and no 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7589520" cy="950976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44450" cy="950976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48840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 spc="130">
                <a:solidFill>
                  <a:srgbClr val="E87A6B"/>
                </a:solidFill>
                <a:latin typeface="Segoe UI"/>
              </a:rPr>
              <a:t>WEB  ·  WORKERS   </a:t>
            </a:r>
            <a:r>
              <a:rPr sz="1250" b="1">
                <a:solidFill>
                  <a:srgbClr val="F5F0E6"/>
                </a:solidFill>
                <a:latin typeface="Consolas"/>
              </a:rPr>
              <a:t>Loan.Web   ·   Loan.Workers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MVC controllers, Razor views, SSE streaming, auth · indexing &amp; background jobs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" y="3145536"/>
            <a:ext cx="6821424" cy="950976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42416" y="3145536"/>
            <a:ext cx="44450" cy="950976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16736" y="3264408"/>
            <a:ext cx="627278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 spc="130">
                <a:solidFill>
                  <a:srgbClr val="8B7AD4"/>
                </a:solidFill>
                <a:latin typeface="Segoe UI"/>
              </a:rPr>
              <a:t>INFRASTRUCTURE   </a:t>
            </a:r>
            <a:r>
              <a:rPr sz="1250" b="1">
                <a:solidFill>
                  <a:srgbClr val="F5F0E6"/>
                </a:solidFill>
                <a:latin typeface="Consolas"/>
              </a:rPr>
              <a:t>Loan.Infrastructure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Azure OpenAI  ·  Azure AI Search  ·  EF Core / SQL Server  ·  MCP server  ·  Blob storage  ·  Telemetry  ·  Resilience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6464" y="4261104"/>
            <a:ext cx="6053328" cy="950976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26464" y="4261104"/>
            <a:ext cx="44450" cy="950976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00784" y="4379976"/>
            <a:ext cx="55046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 spc="130">
                <a:solidFill>
                  <a:srgbClr val="3DC8B4"/>
                </a:solidFill>
                <a:latin typeface="Segoe UI"/>
              </a:rPr>
              <a:t>APPLICATION   </a:t>
            </a:r>
            <a:r>
              <a:rPr sz="1250" b="1">
                <a:solidFill>
                  <a:srgbClr val="F5F0E6"/>
                </a:solidFill>
                <a:latin typeface="Consolas"/>
              </a:rPr>
              <a:t>Loan.Application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CQRS handlers  ·  DTOs &amp; validators  ·  Agents  ·  Ports: IChatModel, IPolicyRetriever, IDocumentExtractor, I*Reader, repositories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5376672"/>
            <a:ext cx="5285232" cy="950976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10512" y="5376672"/>
            <a:ext cx="44450" cy="950976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84832" y="5495544"/>
            <a:ext cx="47365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 spc="130">
                <a:solidFill>
                  <a:srgbClr val="D4A03C"/>
                </a:solidFill>
                <a:latin typeface="Segoe UI"/>
              </a:rPr>
              <a:t>DOMAIN   </a:t>
            </a:r>
            <a:r>
              <a:rPr sz="1250" b="1">
                <a:solidFill>
                  <a:srgbClr val="F5F0E6"/>
                </a:solidFill>
                <a:latin typeface="Consolas"/>
              </a:rPr>
              <a:t>Loan.Domain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LoanApplication  ·  ApplicantFacts  ·  ProductRules  ·  EligibilityCalculator  ·  EligibilityIndicators  ·  Recommendation  ·  Money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85632" y="2121408"/>
            <a:ext cx="0" cy="4114800"/>
          </a:xfrm>
          <a:prstGeom prst="line">
            <a:avLst/>
          </a:prstGeom>
          <a:ln w="2032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04504" y="3904488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Segoe UI"/>
              </a:rPr>
              <a:t>dependencies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Segoe UI"/>
              </a:rPr>
              <a:t>point inward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65208" y="2029968"/>
            <a:ext cx="1868119" cy="4187952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65208" y="2029968"/>
            <a:ext cx="44450" cy="4187952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02952" y="2267712"/>
            <a:ext cx="13926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D4A03C"/>
                </a:solidFill>
                <a:latin typeface="Georgia"/>
              </a:rPr>
              <a:t>Boundary rules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0" i="0">
                <a:solidFill>
                  <a:srgbClr val="C6CEDE"/>
                </a:solidFill>
                <a:latin typeface="Segoe UI"/>
              </a:rPr>
              <a:t>•  Domain holds business rules and nothing else.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0" i="0">
                <a:solidFill>
                  <a:srgbClr val="C6CEDE"/>
                </a:solidFill>
                <a:latin typeface="Segoe UI"/>
              </a:rPr>
              <a:t>•  Application depends only on Domain.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0" i="0">
                <a:solidFill>
                  <a:srgbClr val="C6CEDE"/>
                </a:solidFill>
                <a:latin typeface="Segoe UI"/>
              </a:rPr>
              <a:t>•  Infrastructure implements Application ports.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0" i="0">
                <a:solidFill>
                  <a:srgbClr val="C6CEDE"/>
                </a:solidFill>
                <a:latin typeface="Segoe UI"/>
              </a:rPr>
              <a:t>•  Web calls Application — never Infrastructure directly.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0" i="0">
                <a:solidFill>
                  <a:srgbClr val="C6CEDE"/>
                </a:solidFill>
                <a:latin typeface="Segoe UI"/>
              </a:rPr>
              <a:t>•  All adapters wired in the composition root.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0" i="0">
                <a:solidFill>
                  <a:srgbClr val="C6CEDE"/>
                </a:solidFill>
                <a:latin typeface="Segoe UI"/>
              </a:rPr>
              <a:t>•  Tests mirror production boundaries.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RUNTIME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How a request flows through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Browser to Razor UI, through Application ports, out to Azure services and the MCP tool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29968"/>
            <a:ext cx="19847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8A97B0"/>
                </a:solidFill>
                <a:latin typeface="Segoe UI"/>
              </a:rPr>
              <a:t>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9598" y="2286000"/>
            <a:ext cx="402336" cy="25400"/>
          </a:xfrm>
          <a:prstGeom prst="rect">
            <a:avLst/>
          </a:prstGeom>
          <a:solidFill>
            <a:srgbClr val="8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450592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8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Applicant UI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8A97B0"/>
                </a:solidFill>
                <a:latin typeface="Segoe UI"/>
              </a:rPr>
              <a:t>Razor + 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15868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8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Officer Console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8A97B0"/>
                </a:solidFill>
                <a:latin typeface="Segoe UI"/>
              </a:rPr>
              <a:t>review &amp; approve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581144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8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Compliance / Admin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8A97B0"/>
                </a:solidFill>
                <a:latin typeface="Segoe UI"/>
              </a:rPr>
              <a:t>audit &amp; governance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9740" y="3936492"/>
            <a:ext cx="164592" cy="0"/>
          </a:xfrm>
          <a:prstGeom prst="line">
            <a:avLst/>
          </a:prstGeom>
          <a:ln w="1778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908" y="2029968"/>
            <a:ext cx="19847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E87A6B"/>
                </a:solidFill>
                <a:latin typeface="Segoe UI"/>
              </a:rPr>
              <a:t>LOAN.WEB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2138" y="2286000"/>
            <a:ext cx="402336" cy="2540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0908" y="2450592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E8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Controllers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E87A6B"/>
                </a:solidFill>
                <a:latin typeface="Segoe UI"/>
              </a:rPr>
              <a:t>Applicant · Officer
Compliance · 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908" y="3515868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E8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Middleware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E87A6B"/>
                </a:solidFill>
                <a:latin typeface="Segoe UI"/>
              </a:rPr>
              <a:t>auth · correlation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908" y="4581144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E8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Health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E87A6B"/>
                </a:solidFill>
                <a:latin typeface="Segoe UI"/>
              </a:rPr>
              <a:t>/health  /ready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2281" y="3936492"/>
            <a:ext cx="164592" cy="0"/>
          </a:xfrm>
          <a:prstGeom prst="line">
            <a:avLst/>
          </a:prstGeom>
          <a:ln w="1778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03449" y="2029968"/>
            <a:ext cx="19847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3DC8B4"/>
                </a:solidFill>
                <a:latin typeface="Segoe UI"/>
              </a:rPr>
              <a:t>LOAN.APPLICATION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4679" y="2286000"/>
            <a:ext cx="402336" cy="254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03449" y="2450592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CQRS Handlers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3DC8B4"/>
                </a:solidFill>
                <a:latin typeface="Segoe UI"/>
              </a:rPr>
              <a:t>commands &amp;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3449" y="3515868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Agent Layer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3DC8B4"/>
                </a:solidFill>
                <a:latin typeface="Segoe UI"/>
              </a:rPr>
              <a:t>Document · Eligibility
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3449" y="4581144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Ports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3DC8B4"/>
                </a:solidFill>
                <a:latin typeface="Segoe UI"/>
              </a:rPr>
              <a:t>IChatModel · IPolicyRetriever
I*Reader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4821" y="3936492"/>
            <a:ext cx="164592" cy="0"/>
          </a:xfrm>
          <a:prstGeom prst="line">
            <a:avLst/>
          </a:prstGeom>
          <a:ln w="1778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25989" y="2029968"/>
            <a:ext cx="19847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D4A03C"/>
                </a:solidFill>
                <a:latin typeface="Segoe UI"/>
              </a:rPr>
              <a:t>LOAN.DOMAIN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7220" y="2286000"/>
            <a:ext cx="402336" cy="25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25989" y="2450592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EligibilityCalculator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D4A03C"/>
                </a:solidFill>
                <a:latin typeface="Segoe UI"/>
              </a:rPr>
              <a:t>DTI · LTV
thresholds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5989" y="3515868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Entities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D4A03C"/>
                </a:solidFill>
                <a:latin typeface="Segoe UI"/>
              </a:rPr>
              <a:t>LoanApplication
ApplicantFacts · Money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5989" y="4581144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ProductRules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D4A03C"/>
                </a:solidFill>
                <a:latin typeface="Segoe UI"/>
              </a:rPr>
              <a:t>authoritative outcomes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47362" y="3936492"/>
            <a:ext cx="164592" cy="0"/>
          </a:xfrm>
          <a:prstGeom prst="line">
            <a:avLst/>
          </a:prstGeom>
          <a:ln w="1778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48530" y="2029968"/>
            <a:ext cx="19847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8B7AD4"/>
                </a:solidFill>
                <a:latin typeface="Segoe UI"/>
              </a:rPr>
              <a:t>INFRASTRUCTURE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9760" y="2286000"/>
            <a:ext cx="402336" cy="25400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548530" y="2450592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8B7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Azure OpenAI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8B7AD4"/>
                </a:solidFill>
                <a:latin typeface="Segoe UI"/>
              </a:rPr>
              <a:t>gpt-4o · embeddings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8530" y="3515868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8B7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Azure AI Search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8B7AD4"/>
                </a:solidFill>
                <a:latin typeface="Segoe UI"/>
              </a:rPr>
              <a:t>1536-dim hybrid RAG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8530" y="4581144"/>
            <a:ext cx="1984796" cy="841248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8B7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SQL Server + Blob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8B7AD4"/>
                </a:solidFill>
                <a:latin typeface="Segoe UI"/>
              </a:rPr>
              <a:t>EF Core · 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733288"/>
            <a:ext cx="10874959" cy="548640"/>
          </a:xfrm>
          <a:prstGeom prst="rect">
            <a:avLst/>
          </a:prstGeom>
          <a:solidFill>
            <a:srgbClr val="1B2C57"/>
          </a:solidFill>
          <a:ln w="12700">
            <a:solidFill>
              <a:srgbClr val="8B7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5824728"/>
            <a:ext cx="1032631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8B7AD4"/>
                </a:solidFill>
                <a:latin typeface="Segoe UI"/>
              </a:rPr>
              <a:t>MCP tool boundary  </a:t>
            </a:r>
            <a:r>
              <a:rPr sz="1080">
                <a:solidFill>
                  <a:srgbClr val="C6CEDE"/>
                </a:solidFill>
                <a:latin typeface="Segoe UI"/>
              </a:rPr>
              <a:t>POST /api/mcp — JSON-RPC 2.0 over Streamable HTTP.  Typed, authenticated, allow-listed:  get_identity_status · get_income_verification · get_credit · search_policy · save_draft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MULTI-AGENT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Three bounded specialists, one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Each agent holds a narrow mandate. The orchestrator synthesises a draft — but the deterministic status always overrides the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3356762" cy="230428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44450" cy="2304288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9424"/>
            <a:ext cx="286298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DC8B4"/>
                </a:solidFill>
                <a:latin typeface="Georgia"/>
              </a:rPr>
              <a:t>Document Agent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DocumentAnalysisAgent.cs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Assemble confirmed fact set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Identify missing evidence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Summarise provenance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E87A6B"/>
                </a:solidFill>
                <a:latin typeface="Segoe UI"/>
              </a:rPr>
              <a:t>✕  Cannot verify eligibility or override a confirmed fact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994" y="3182112"/>
            <a:ext cx="292608" cy="0"/>
          </a:xfrm>
          <a:prstGeom prst="line">
            <a:avLst/>
          </a:prstGeom>
          <a:ln w="1905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17466" y="2029968"/>
            <a:ext cx="3356762" cy="230428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7466" y="2029968"/>
            <a:ext cx="44450" cy="2304288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3498" y="2249424"/>
            <a:ext cx="286298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4A03C"/>
                </a:solidFill>
                <a:latin typeface="Georgia"/>
              </a:rPr>
              <a:t>Eligibility Agent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EligibilityAnalysisAgent.cs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Invoke typed verification tools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Request Domain calculation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Collect decision factors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E87A6B"/>
                </a:solidFill>
                <a:latin typeface="Segoe UI"/>
              </a:rPr>
              <a:t>✕  Cannot override deterministic results or invent values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29092" y="3182112"/>
            <a:ext cx="292608" cy="0"/>
          </a:xfrm>
          <a:prstGeom prst="line">
            <a:avLst/>
          </a:prstGeom>
          <a:ln w="1905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76564" y="2029968"/>
            <a:ext cx="3356762" cy="230428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6564" y="2029968"/>
            <a:ext cx="44450" cy="2304288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2596" y="2249424"/>
            <a:ext cx="286298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8B7AD4"/>
                </a:solidFill>
                <a:latin typeface="Georgia"/>
              </a:rPr>
              <a:t>Compliance Agent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ComplianceReviewAgent.cs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Check policy version &amp; consent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Validate citations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6CEDE"/>
                </a:solidFill>
                <a:latin typeface="Segoe UI"/>
              </a:rPr>
              <a:t>→  Raise exceptions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E87A6B"/>
                </a:solidFill>
                <a:latin typeface="Segoe UI"/>
              </a:rPr>
              <a:t>✕  Cannot alter facts or approve an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1830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10">
                <a:solidFill>
                  <a:srgbClr val="8A97B0"/>
                </a:solidFill>
                <a:latin typeface="Segoe UI"/>
              </a:rPr>
              <a:t>BOUNDED EXECUTION PIPELINE  —  EVERY STAGE LATENCY RECORDED TO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84064"/>
            <a:ext cx="1644853" cy="475488"/>
          </a:xfrm>
          <a:prstGeom prst="roundRect">
            <a:avLst>
              <a:gd name="adj" fmla="val 22000"/>
            </a:avLst>
          </a:prstGeom>
          <a:solidFill>
            <a:srgbClr val="1B2C57"/>
          </a:solidFill>
          <a:ln w="1143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DocumentAnalysis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21509" y="5321808"/>
            <a:ext cx="164592" cy="0"/>
          </a:xfrm>
          <a:prstGeom prst="line">
            <a:avLst/>
          </a:prstGeom>
          <a:ln w="1524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04389" y="5084064"/>
            <a:ext cx="1644853" cy="475488"/>
          </a:xfrm>
          <a:prstGeom prst="roundRect">
            <a:avLst>
              <a:gd name="adj" fmla="val 22000"/>
            </a:avLst>
          </a:prstGeom>
          <a:solidFill>
            <a:srgbClr val="1B2C57"/>
          </a:solidFill>
          <a:ln w="1143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D4A03C"/>
                </a:solidFill>
                <a:latin typeface="Segoe UI"/>
              </a:rPr>
              <a:t>EligibilityAnalysis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67530" y="5321808"/>
            <a:ext cx="164592" cy="0"/>
          </a:xfrm>
          <a:prstGeom prst="line">
            <a:avLst/>
          </a:prstGeom>
          <a:ln w="1524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50410" y="5084064"/>
            <a:ext cx="1644853" cy="475488"/>
          </a:xfrm>
          <a:prstGeom prst="roundRect">
            <a:avLst>
              <a:gd name="adj" fmla="val 22000"/>
            </a:avLst>
          </a:prstGeom>
          <a:solidFill>
            <a:srgbClr val="1B2C57"/>
          </a:solidFill>
          <a:ln w="11430">
            <a:solidFill>
              <a:srgbClr val="8B7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B7AD4"/>
                </a:solidFill>
                <a:latin typeface="Segoe UI"/>
              </a:rPr>
              <a:t>ComplianceReview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3551" y="5321808"/>
            <a:ext cx="164592" cy="0"/>
          </a:xfrm>
          <a:prstGeom prst="line">
            <a:avLst/>
          </a:prstGeom>
          <a:ln w="1524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96431" y="5084064"/>
            <a:ext cx="1644853" cy="475488"/>
          </a:xfrm>
          <a:prstGeom prst="roundRect">
            <a:avLst>
              <a:gd name="adj" fmla="val 22000"/>
            </a:avLst>
          </a:prstGeom>
          <a:solidFill>
            <a:srgbClr val="1B2C57"/>
          </a:solidFill>
          <a:ln w="11430">
            <a:solidFill>
              <a:srgbClr val="F5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5F0E6"/>
                </a:solidFill>
                <a:latin typeface="Segoe UI"/>
              </a:rPr>
              <a:t>OrchestratorSynthesis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59572" y="5321808"/>
            <a:ext cx="164592" cy="0"/>
          </a:xfrm>
          <a:prstGeom prst="line">
            <a:avLst/>
          </a:prstGeom>
          <a:ln w="1524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42452" y="5084064"/>
            <a:ext cx="1644853" cy="475488"/>
          </a:xfrm>
          <a:prstGeom prst="roundRect">
            <a:avLst>
              <a:gd name="adj" fmla="val 22000"/>
            </a:avLst>
          </a:prstGeom>
          <a:solidFill>
            <a:srgbClr val="1B2C57"/>
          </a:solidFill>
          <a:ln w="11430">
            <a:solidFill>
              <a:srgbClr val="E8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E87A6B"/>
                </a:solidFill>
                <a:latin typeface="Segoe UI"/>
              </a:rPr>
              <a:t>Deterministic override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05593" y="5321808"/>
            <a:ext cx="164592" cy="0"/>
          </a:xfrm>
          <a:prstGeom prst="line">
            <a:avLst/>
          </a:prstGeom>
          <a:ln w="1524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88473" y="5084064"/>
            <a:ext cx="1644853" cy="475488"/>
          </a:xfrm>
          <a:prstGeom prst="roundRect">
            <a:avLst>
              <a:gd name="adj" fmla="val 22000"/>
            </a:avLst>
          </a:prstGeom>
          <a:solidFill>
            <a:srgbClr val="1B2C57"/>
          </a:solidFill>
          <a:ln w="11430">
            <a:solidFill>
              <a:srgbClr val="F0C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0C86B"/>
                </a:solidFill>
                <a:latin typeface="Segoe UI"/>
              </a:rPr>
              <a:t>RecommendationDraft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760720"/>
            <a:ext cx="10874959" cy="512064"/>
          </a:xfrm>
          <a:prstGeom prst="rect">
            <a:avLst/>
          </a:prstGeom>
          <a:solidFill>
            <a:srgbClr val="111F43"/>
          </a:solidFill>
          <a:ln w="12700">
            <a:solidFill>
              <a:srgbClr val="E8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870448"/>
            <a:ext cx="1036289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E87A6B"/>
                </a:solidFill>
                <a:latin typeface="Segoe UI"/>
              </a:rPr>
              <a:t>Deterministic override:  </a:t>
            </a:r>
            <a:r>
              <a:rPr sz="1080">
                <a:solidFill>
                  <a:srgbClr val="C6CEDE"/>
                </a:solidFill>
                <a:latin typeface="Segoe UI"/>
              </a:rPr>
              <a:t>routing state is derived from EligibilityStatus in Domain — Eligible → ReadyForOfficerReview, PendingInformation → PendingInformation, Ineligible / ReferToHuman → ManualReview.  Model output can never set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WORKFLOW  ·  FLOWS A &amp;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Grounded product Q&amp;A and document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Flow A answers only from retrieved, version-filtered policy. Flow B extracts with provenance and never invents a missing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299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DC8B4"/>
                </a:solidFill>
                <a:latin typeface="Consolas"/>
              </a:rPr>
              <a:t>FLOW A   </a:t>
            </a:r>
            <a:r>
              <a:rPr sz="1400" b="1">
                <a:solidFill>
                  <a:srgbClr val="F5F0E6"/>
                </a:solidFill>
                <a:latin typeface="Georgia"/>
              </a:rPr>
              <a:t>Product question — grounded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140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Applicant asks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3DC8B4"/>
                </a:solidFill>
                <a:latin typeface="Segoe UI"/>
              </a:rPr>
              <a:t>product question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6749" y="2807208"/>
            <a:ext cx="146304" cy="0"/>
          </a:xfrm>
          <a:prstGeom prst="line">
            <a:avLst/>
          </a:prstGeom>
          <a:ln w="16510">
            <a:solidFill>
              <a:srgbClr val="3DC8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01341" y="24140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Injection guard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3DC8B4"/>
                </a:solidFill>
                <a:latin typeface="Segoe UI"/>
              </a:rPr>
              <a:t>PromptInjectionGuard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79722" y="2807208"/>
            <a:ext cx="146304" cy="0"/>
          </a:xfrm>
          <a:prstGeom prst="line">
            <a:avLst/>
          </a:prstGeom>
          <a:ln w="16510">
            <a:solidFill>
              <a:srgbClr val="3DC8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4314" y="24140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Version filter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3DC8B4"/>
                </a:solidFill>
                <a:latin typeface="Segoe UI"/>
              </a:rPr>
              <a:t>active products only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22695" y="2807208"/>
            <a:ext cx="146304" cy="0"/>
          </a:xfrm>
          <a:prstGeom prst="line">
            <a:avLst/>
          </a:prstGeom>
          <a:ln w="16510">
            <a:solidFill>
              <a:srgbClr val="3DC8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87287" y="24140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Hybrid retrieval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3DC8B4"/>
                </a:solidFill>
                <a:latin typeface="Segoe UI"/>
              </a:rPr>
              <a:t>Azure AI Search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5668" y="2807208"/>
            <a:ext cx="146304" cy="0"/>
          </a:xfrm>
          <a:prstGeom prst="line">
            <a:avLst/>
          </a:prstGeom>
          <a:ln w="16510">
            <a:solidFill>
              <a:srgbClr val="3DC8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30260" y="24140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Grounded answer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3DC8B4"/>
                </a:solidFill>
                <a:latin typeface="Segoe UI"/>
              </a:rPr>
              <a:t>cited 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08641" y="2807208"/>
            <a:ext cx="146304" cy="0"/>
          </a:xfrm>
          <a:prstGeom prst="line">
            <a:avLst/>
          </a:prstGeom>
          <a:ln w="16510">
            <a:solidFill>
              <a:srgbClr val="3DC8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73233" y="24140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UI render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3DC8B4"/>
                </a:solidFill>
                <a:latin typeface="Segoe UI"/>
              </a:rPr>
              <a:t>sources + disclaimer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10128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97B0"/>
                </a:solidFill>
                <a:latin typeface="Segoe UI"/>
              </a:rPr>
              <a:t>Insufficient evidence returns an honest cannot-verify response with zero citations. Conflicting policy versions are flagged and routed to a loan officer.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587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03C"/>
                </a:solidFill>
                <a:latin typeface="Consolas"/>
              </a:rPr>
              <a:t>FLOW B   </a:t>
            </a:r>
            <a:r>
              <a:rPr sz="1400" b="1">
                <a:solidFill>
                  <a:srgbClr val="F5F0E6"/>
                </a:solidFill>
                <a:latin typeface="Georgia"/>
              </a:rPr>
              <a:t>Document intake — extraction with provenance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428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Upload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D4A03C"/>
                </a:solidFill>
                <a:latin typeface="Segoe UI"/>
              </a:rPr>
              <a:t>synthetic document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6749" y="4636008"/>
            <a:ext cx="146304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01341" y="42428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Validate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D4A03C"/>
                </a:solidFill>
                <a:latin typeface="Segoe UI"/>
              </a:rPr>
              <a:t>type &amp; size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79722" y="4636008"/>
            <a:ext cx="146304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44314" y="42428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Store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D4A03C"/>
                </a:solidFill>
                <a:latin typeface="Segoe UI"/>
              </a:rPr>
              <a:t>Blob / App_Data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22695" y="4636008"/>
            <a:ext cx="146304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87287" y="42428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Extract fields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D4A03C"/>
                </a:solidFill>
                <a:latin typeface="Segoe UI"/>
              </a:rPr>
              <a:t>5 categories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5668" y="4636008"/>
            <a:ext cx="146304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30260" y="42428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Mask PII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D4A03C"/>
                </a:solidFill>
                <a:latin typeface="Segoe UI"/>
              </a:rPr>
              <a:t>PiiMasker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08641" y="4636008"/>
            <a:ext cx="146304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73233" y="4242816"/>
            <a:ext cx="1660093" cy="786384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Confirm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 i="0">
                <a:solidFill>
                  <a:srgbClr val="D4A03C"/>
                </a:solidFill>
                <a:latin typeface="Segoe UI"/>
              </a:rPr>
              <a:t>if conf. &lt; 0.85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138928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97B0"/>
                </a:solidFill>
                <a:latin typeface="Segoe UI"/>
              </a:rPr>
              <a:t>Missing fields stay blank — the model must not invent data. Unsupported or suspicious files are rejected safely, and every field keeps a provenance record.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WORKFLOW  ·  FLOW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Eligibility recommendation,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The mandatory decision path — from confirmed facts to an officer's audited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1005840" cy="100584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38100" cy="100584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3230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3DC8B4"/>
                </a:solidFill>
                <a:latin typeface="Segoe UI"/>
              </a:rPr>
              <a:t>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4208" y="2029968"/>
            <a:ext cx="9869119" cy="1005840"/>
          </a:xfrm>
          <a:prstGeom prst="rect">
            <a:avLst/>
          </a:prstGeom>
          <a:solidFill>
            <a:srgbClr val="111F43"/>
          </a:solidFill>
          <a:ln w="635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3154680"/>
            <a:ext cx="1005840" cy="100584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154680"/>
            <a:ext cx="38100" cy="10058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570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D4A03C"/>
                </a:solidFill>
                <a:latin typeface="Segoe UI"/>
              </a:rPr>
              <a:t>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3154680"/>
            <a:ext cx="9869119" cy="1005840"/>
          </a:xfrm>
          <a:prstGeom prst="rect">
            <a:avLst/>
          </a:prstGeom>
          <a:solidFill>
            <a:srgbClr val="111F43"/>
          </a:solidFill>
          <a:ln w="635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4279392"/>
            <a:ext cx="1005840" cy="100584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4279392"/>
            <a:ext cx="38100" cy="100584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6817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7A6B"/>
                </a:solidFill>
                <a:latin typeface="Segoe UI"/>
              </a:rPr>
              <a:t>OFFICER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64208" y="4279392"/>
            <a:ext cx="9869119" cy="1005840"/>
          </a:xfrm>
          <a:prstGeom prst="rect">
            <a:avLst/>
          </a:prstGeom>
          <a:solidFill>
            <a:srgbClr val="111F43"/>
          </a:solidFill>
          <a:ln w="635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901952" y="2167128"/>
            <a:ext cx="1517904" cy="731520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F0E6"/>
                </a:solidFill>
                <a:latin typeface="Segoe UI"/>
              </a:rPr>
              <a:t>Document Agent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3DC8B4"/>
                </a:solidFill>
                <a:latin typeface="Segoe UI"/>
              </a:rPr>
              <a:t>confirmed facts
+ missing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4412" y="2167128"/>
            <a:ext cx="1517904" cy="731520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F0E6"/>
                </a:solidFill>
                <a:latin typeface="Segoe UI"/>
              </a:rPr>
              <a:t>Eligibility Agent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3DC8B4"/>
                </a:solidFill>
                <a:latin typeface="Segoe UI"/>
              </a:rPr>
              <a:t>identity · income
credit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6873" y="3291840"/>
            <a:ext cx="1517904" cy="731520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F0E6"/>
                </a:solidFill>
                <a:latin typeface="Segoe UI"/>
              </a:rPr>
              <a:t>Eligibility
Calculator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D4A03C"/>
                </a:solidFill>
                <a:latin typeface="Segoe UI"/>
              </a:rPr>
              <a:t>DTI · LTV · thresholds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9333" y="2167128"/>
            <a:ext cx="1517904" cy="731520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3D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F0E6"/>
                </a:solidFill>
                <a:latin typeface="Segoe UI"/>
              </a:rPr>
              <a:t>Compliance Agent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3DC8B4"/>
                </a:solidFill>
                <a:latin typeface="Segoe UI"/>
              </a:rPr>
              <a:t>version · consent
citations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1794" y="3291840"/>
            <a:ext cx="1517904" cy="731520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F0E6"/>
                </a:solidFill>
                <a:latin typeface="Segoe UI"/>
              </a:rPr>
              <a:t>Recommendation
Draft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D4A03C"/>
                </a:solidFill>
                <a:latin typeface="Segoe UI"/>
              </a:rPr>
              <a:t>schema-valid
+ unresolvedItems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4255" y="4416552"/>
            <a:ext cx="1517904" cy="731520"/>
          </a:xfrm>
          <a:prstGeom prst="roundRect">
            <a:avLst>
              <a:gd name="adj" fmla="val 9000"/>
            </a:avLst>
          </a:prstGeom>
          <a:solidFill>
            <a:srgbClr val="111F43"/>
          </a:solidFill>
          <a:ln w="12700">
            <a:solidFill>
              <a:srgbClr val="E8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F0E6"/>
                </a:solidFill>
                <a:latin typeface="Segoe UI"/>
              </a:rPr>
              <a:t>Officer decision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E87A6B"/>
                </a:solidFill>
                <a:latin typeface="Segoe UI"/>
              </a:rPr>
              <a:t>approve · edit
return for info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47288" y="2532888"/>
            <a:ext cx="9692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748" y="2532888"/>
            <a:ext cx="4846" cy="0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34594" y="2532888"/>
            <a:ext cx="0" cy="1124712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34594" y="3657600"/>
            <a:ext cx="4847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12209" y="3657600"/>
            <a:ext cx="4846" cy="0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617055" y="2532888"/>
            <a:ext cx="0" cy="1124712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17055" y="2532888"/>
            <a:ext cx="4846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94669" y="2532888"/>
            <a:ext cx="4846" cy="0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9515" y="2532888"/>
            <a:ext cx="0" cy="1124712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99515" y="3657600"/>
            <a:ext cx="4847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77130" y="3657600"/>
            <a:ext cx="4846" cy="0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781976" y="3657600"/>
            <a:ext cx="0" cy="1124712"/>
          </a:xfrm>
          <a:prstGeom prst="line">
            <a:avLst/>
          </a:prstGeom>
          <a:ln w="16510">
            <a:solidFill>
              <a:srgbClr val="D4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81976" y="4782312"/>
            <a:ext cx="4847" cy="0"/>
          </a:xfrm>
          <a:prstGeom prst="line">
            <a:avLst/>
          </a:prstGeom>
          <a:ln w="16510">
            <a:solidFill>
              <a:srgbClr val="D4A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58368" y="5532120"/>
            <a:ext cx="2512999" cy="64008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" y="5532120"/>
            <a:ext cx="44450" cy="64008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5641848"/>
            <a:ext cx="2110663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DC8B4"/>
                </a:solidFill>
                <a:latin typeface="Segoe UI"/>
              </a:rPr>
              <a:t>Eligible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Segoe UI"/>
              </a:rPr>
              <a:t>→  ReadyForOfficerReview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45687" y="5532120"/>
            <a:ext cx="2512999" cy="64008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445687" y="5532120"/>
            <a:ext cx="44450" cy="64008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65143" y="5641848"/>
            <a:ext cx="2110663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4A03C"/>
                </a:solidFill>
                <a:latin typeface="Segoe UI"/>
              </a:rPr>
              <a:t>Pending Information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Segoe UI"/>
              </a:rPr>
              <a:t>→  missing evidence · BR-06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007" y="5532120"/>
            <a:ext cx="2512999" cy="64008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33007" y="5532120"/>
            <a:ext cx="44450" cy="64008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52463" y="5641848"/>
            <a:ext cx="2110663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87A6B"/>
                </a:solidFill>
                <a:latin typeface="Segoe UI"/>
              </a:rPr>
              <a:t>Ineligible / Refer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Segoe UI"/>
              </a:rPr>
              <a:t>→  ManualReview, not a model call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0327" y="5532120"/>
            <a:ext cx="2512999" cy="64008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020327" y="5532120"/>
            <a:ext cx="44450" cy="640080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39783" y="5641848"/>
            <a:ext cx="2110663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B7AD4"/>
                </a:solidFill>
                <a:latin typeface="Segoe UI"/>
              </a:rPr>
              <a:t>Tool failure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Segoe UI"/>
              </a:rPr>
              <a:t>→  factor marked unavailable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92663" y="-1305763"/>
            <a:ext cx="3108960" cy="3108960"/>
          </a:xfrm>
          <a:prstGeom prst="ellipse">
            <a:avLst/>
          </a:prstGeom>
          <a:noFill/>
          <a:ln w="13970">
            <a:solidFill>
              <a:srgbClr val="E87A6B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WORKFLOW  ·  FLOW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Prompt injection &amp; data-leakage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Adversarial content is treated as untrusted evidence at every boundary — and the response never confirms whether another application exists.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1926275" cy="239572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29968"/>
            <a:ext cx="44450" cy="2395728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146907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87A6B"/>
                </a:solidFill>
                <a:latin typeface="Georgia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5F0E6"/>
                </a:solidFill>
                <a:latin typeface="Segoe UI"/>
              </a:rPr>
              <a:t>Untrusted input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Adversarial instruction arrives in a user message or inside an uploaded document.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0363" y="3227832"/>
            <a:ext cx="219456" cy="0"/>
          </a:xfrm>
          <a:prstGeom prst="line">
            <a:avLst/>
          </a:prstGeom>
          <a:ln w="1651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95539" y="2029968"/>
            <a:ext cx="1926275" cy="239572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5539" y="2029968"/>
            <a:ext cx="44450" cy="2395728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3283" y="2267712"/>
            <a:ext cx="146907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D4A03C"/>
                </a:solidFill>
                <a:latin typeface="Georgia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5F0E6"/>
                </a:solidFill>
                <a:latin typeface="Segoe UI"/>
              </a:rPr>
              <a:t>Delimit &amp; detect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Retrieved content is clearly delimited. PromptInjectionGuard short-circuits known override patterns.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67534" y="3227832"/>
            <a:ext cx="219456" cy="0"/>
          </a:xfrm>
          <a:prstGeom prst="line">
            <a:avLst/>
          </a:prstGeom>
          <a:ln w="1651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32710" y="2029968"/>
            <a:ext cx="1926275" cy="239572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32710" y="2029968"/>
            <a:ext cx="44450" cy="2395728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70454" y="2267712"/>
            <a:ext cx="146907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8B7AD4"/>
                </a:solidFill>
                <a:latin typeface="Georgia"/>
              </a:rPr>
              <a:t>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5F0E6"/>
                </a:solidFill>
                <a:latin typeface="Segoe UI"/>
              </a:rPr>
              <a:t>Mask &amp; scope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PiiMasker strips identifiers before the model call. Server-side ApplicationId scoping blocks cross-tenant reads.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04705" y="3227832"/>
            <a:ext cx="219456" cy="0"/>
          </a:xfrm>
          <a:prstGeom prst="line">
            <a:avLst/>
          </a:prstGeom>
          <a:ln w="1651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69881" y="2029968"/>
            <a:ext cx="1926275" cy="239572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69881" y="2029968"/>
            <a:ext cx="44450" cy="2395728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625" y="2267712"/>
            <a:ext cx="146907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3DC8B4"/>
                </a:solidFill>
                <a:latin typeface="Georgia"/>
              </a:rPr>
              <a:t>04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5F0E6"/>
                </a:solidFill>
                <a:latin typeface="Segoe UI"/>
              </a:rPr>
              <a:t>Refuse safely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A refusal is returned with zero citations. Tool arguments failing validation are rejected by policy.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1876" y="3227832"/>
            <a:ext cx="219456" cy="0"/>
          </a:xfrm>
          <a:prstGeom prst="line">
            <a:avLst/>
          </a:prstGeom>
          <a:ln w="16510">
            <a:solidFill>
              <a:srgbClr val="2A3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607052" y="2029968"/>
            <a:ext cx="1926275" cy="239572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07052" y="2029968"/>
            <a:ext cx="44450" cy="2395728"/>
          </a:xfrm>
          <a:prstGeom prst="rect">
            <a:avLst/>
          </a:prstGeom>
          <a:solidFill>
            <a:srgbClr val="F0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44796" y="2267712"/>
            <a:ext cx="146907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0C86B"/>
                </a:solidFill>
                <a:latin typeface="Georgia"/>
              </a:rPr>
              <a:t>05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5F0E6"/>
                </a:solidFill>
                <a:latin typeface="Segoe UI"/>
              </a:rPr>
              <a:t>Record &amp; escalate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Security telemetry logs category and correlation ID — never sensitive content. Repeated attacks may end the session.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80974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10">
                <a:solidFill>
                  <a:srgbClr val="8A97B0"/>
                </a:solidFill>
                <a:latin typeface="Segoe UI"/>
              </a:rPr>
              <a:t>VERIFIED BY THE ADVERSARIAL EVALUATION 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157216"/>
            <a:ext cx="2512999" cy="73152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5157216"/>
            <a:ext cx="44450" cy="73152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5276088"/>
            <a:ext cx="2055799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3DC8B4"/>
                </a:solidFill>
                <a:latin typeface="Georgia"/>
              </a:rPr>
              <a:t>5 / 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B0"/>
                </a:solidFill>
                <a:latin typeface="Segoe UI"/>
              </a:rPr>
              <a:t>adversarial prompts refused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45687" y="5157216"/>
            <a:ext cx="2512999" cy="73152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45687" y="5157216"/>
            <a:ext cx="44450" cy="73152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83431" y="5276088"/>
            <a:ext cx="2055799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3DC8B4"/>
                </a:solidFill>
                <a:latin typeface="Georgia"/>
              </a:rPr>
              <a:t>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B0"/>
                </a:solidFill>
                <a:latin typeface="Segoe UI"/>
              </a:rPr>
              <a:t>PII values reaching prompt 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3007" y="5157216"/>
            <a:ext cx="2512999" cy="73152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33007" y="5157216"/>
            <a:ext cx="44450" cy="73152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0751" y="5276088"/>
            <a:ext cx="2055799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3DC8B4"/>
                </a:solidFill>
                <a:latin typeface="Georgia"/>
              </a:rPr>
              <a:t>100%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B0"/>
                </a:solidFill>
                <a:latin typeface="Segoe UI"/>
              </a:rPr>
              <a:t>cross-application reads blocked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20327" y="5157216"/>
            <a:ext cx="2512999" cy="731520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20327" y="5157216"/>
            <a:ext cx="44450" cy="73152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58071" y="5276088"/>
            <a:ext cx="2055799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3DC8B4"/>
                </a:solidFill>
                <a:latin typeface="Georgia"/>
              </a:rPr>
              <a:t>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B0"/>
                </a:solidFill>
                <a:latin typeface="Segoe UI"/>
              </a:rPr>
              <a:t>citations returned on refusal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Built on the mandated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Every non-negotiable technology in the capstone specification is present and wired through the composition root.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2444419" cy="2615184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2444419" cy="4445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4A03C"/>
                </a:solidFill>
                <a:latin typeface="Georgia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​.NET 8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target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ASP.NET Core MVC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Razor views, SSE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9936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Clean Architecture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5 projects, 6 test suites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68547" y="2029968"/>
            <a:ext cx="2444419" cy="2615184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68547" y="2029968"/>
            <a:ext cx="2444419" cy="4445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4579" y="2286000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DC8B4"/>
                </a:solidFill>
                <a:latin typeface="Georgia"/>
              </a:rPr>
              <a:t>AI &amp;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579" y="2743200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Azure OpenAI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Azure.AI.OpenAI 2.1.0 · gpt-4o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4579" y="3401568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Semantic Kernel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1.34.0 · function calling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579" y="4059936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Azure AI Search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11.6.0 · 1536-dim hybrid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2029968"/>
            <a:ext cx="2444419" cy="2615184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8727" y="2029968"/>
            <a:ext cx="2444419" cy="44450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4759" y="2286000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B7AD4"/>
                </a:solidFill>
                <a:latin typeface="Georgia"/>
              </a:rPr>
              <a:t>Data &amp;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759" y="2743200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SQL Server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EF Core 8.0.8 + migrations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759" y="3401568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Azure Blob Storage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12.21.0 · with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759" y="4059936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ASP.NET Identity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8.0.8 · role-based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8907" y="2029968"/>
            <a:ext cx="2444419" cy="2615184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88907" y="2029968"/>
            <a:ext cx="2444419" cy="44450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44939" y="2286000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7A6B"/>
                </a:solidFill>
                <a:latin typeface="Georgia"/>
              </a:rPr>
              <a:t>Ops &amp;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4939" y="2743200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MCP Server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JSON-RPC 2.0 · Streamable HTTP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4939" y="3401568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Telemetry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tokens · latency · tool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4939" y="4059936"/>
            <a:ext cx="195064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NUnit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A97B0"/>
                </a:solidFill>
                <a:latin typeface="Consolas"/>
              </a:rPr>
              <a:t>147 tests · 6 suites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010912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10">
                <a:solidFill>
                  <a:srgbClr val="8A97B0"/>
                </a:solidFill>
                <a:latin typeface="Segoe UI"/>
              </a:rPr>
              <a:t>ADDITIONAL BASELINE REQUIREMENTS MET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58384"/>
            <a:ext cx="129112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4A03C"/>
                </a:solidFill>
                <a:latin typeface="Segoe UI"/>
              </a:rPr>
              <a:t>Managed identity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68360" y="5358384"/>
            <a:ext cx="15544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4A03C"/>
                </a:solidFill>
                <a:latin typeface="Segoe UI"/>
              </a:rPr>
              <a:t>No committed secrets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1696" y="5358384"/>
            <a:ext cx="194948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4A03C"/>
                </a:solidFill>
                <a:latin typeface="Segoe UI"/>
              </a:rPr>
              <a:t>Config separated from 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0048" y="5358384"/>
            <a:ext cx="142279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4A03C"/>
                </a:solidFill>
                <a:latin typeface="Segoe UI"/>
              </a:rPr>
              <a:t>Structured logging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1712" y="5358384"/>
            <a:ext cx="122528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4A03C"/>
                </a:solidFill>
                <a:latin typeface="Segoe UI"/>
              </a:rPr>
              <a:t>Correlation IDs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95868" y="5358384"/>
            <a:ext cx="188364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4A03C"/>
                </a:solidFill>
                <a:latin typeface="Segoe UI"/>
              </a:rPr>
              <a:t>Health &amp; readiness probes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60720"/>
            <a:ext cx="148862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4A03C"/>
                </a:solidFill>
                <a:latin typeface="Segoe UI"/>
              </a:rPr>
              <a:t>Documented rollback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SAFETY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The seven release-critical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These are enforced in code and covered by tests — not left to prompt wording.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10874959" cy="516635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31750" cy="516635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9536" y="2162556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BR-01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098548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The LLM cannot approve, reject, price or disburse a loan.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98548"/>
            <a:ext cx="447415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8A97B0"/>
                </a:solidFill>
                <a:latin typeface="Segoe UI"/>
              </a:rPr>
              <a:t>Routing state derived from Domain EligibilityStatus; save_draft tool rejects Approve/Reject arguments.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624327"/>
            <a:ext cx="10874959" cy="516635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624327"/>
            <a:ext cx="31750" cy="516635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536" y="2756915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BR-02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692907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Identity, income and credit must come from timestamped tool results or confirmed fields.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92907"/>
            <a:ext cx="447415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8A97B0"/>
                </a:solidFill>
                <a:latin typeface="Segoe UI"/>
              </a:rPr>
              <a:t>Typed readers return values with timestamps; verified facts take precedence over stated facts.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18686"/>
            <a:ext cx="10874959" cy="516635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3218686"/>
            <a:ext cx="31750" cy="516635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9536" y="3351274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BR-03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87266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DTI and eligibility indicators are calculated by deterministic Domain rules.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87266"/>
            <a:ext cx="447415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8A97B0"/>
                </a:solidFill>
                <a:latin typeface="Segoe UI"/>
              </a:rPr>
              <a:t>Pure C# EligibilityCalculator with zero-income guard and exact boundary tests.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813045"/>
            <a:ext cx="10874959" cy="516635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13045"/>
            <a:ext cx="31750" cy="516635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59536" y="3945633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BR-04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881625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Every product explanation cites the effective policy version.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81625"/>
            <a:ext cx="447415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8A97B0"/>
                </a:solidFill>
                <a:latin typeface="Segoe UI"/>
              </a:rPr>
              <a:t>Retrieval is version-filtered; citations carry source title, version and section.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07404"/>
            <a:ext cx="10874959" cy="516635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407404"/>
            <a:ext cx="31750" cy="516635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9536" y="4539992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BR-05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475984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Sensitive identifiers are masked before model calls and never written to prompt logs.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475984"/>
            <a:ext cx="447415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8A97B0"/>
                </a:solidFill>
                <a:latin typeface="Segoe UI"/>
              </a:rPr>
              <a:t>PiiMasker applied pre-call; telemetry records category and correlation ID only.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01763"/>
            <a:ext cx="10874959" cy="516635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001763"/>
            <a:ext cx="31750" cy="516635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59536" y="5134351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BR-06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" y="5070343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A recommendation with missing mandatory evidence stays Pending Information.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070343"/>
            <a:ext cx="447415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8A97B0"/>
                </a:solidFill>
                <a:latin typeface="Segoe UI"/>
              </a:rPr>
              <a:t>Status set by Domain, surfaced with unresolvedItems on the draft.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596122"/>
            <a:ext cx="10874959" cy="516635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" y="5596122"/>
            <a:ext cx="31750" cy="516635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9536" y="5728710"/>
            <a:ext cx="603504" cy="256032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03C"/>
                </a:solidFill>
                <a:latin typeface="Consolas"/>
              </a:rPr>
              <a:t>BR-07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1056" y="5664702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Segoe UI"/>
              </a:rPr>
              <a:t>Only an authorised officer may change recommendation status; every consequential change is audited.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664702"/>
            <a:ext cx="447415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8A97B0"/>
                </a:solidFill>
                <a:latin typeface="Segoe UI"/>
              </a:rPr>
              <a:t>Role-checked officer actions write an immutable audit entry with decision notes.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92663" y="-1305763"/>
            <a:ext cx="3108960" cy="3108960"/>
          </a:xfrm>
          <a:prstGeom prst="ellipse">
            <a:avLst/>
          </a:prstGeom>
          <a:noFill/>
          <a:ln w="13970">
            <a:solidFill>
              <a:srgbClr val="3DC8B4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EVALUATION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A repeatable, auditable prompt-evaluation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20 prompts — 15 golden and 5 adversarial — executed against a deterministic harness with per-prompt JSON and Markdown audit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2471851" cy="1225296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29968"/>
            <a:ext cx="44450" cy="1225296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197807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DC8B4"/>
                </a:solidFill>
                <a:latin typeface="Georgia"/>
              </a:rPr>
              <a:t>100%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overall pass rate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A97B0"/>
                </a:solidFill>
                <a:latin typeface="Segoe UI"/>
              </a:rPr>
              <a:t>20 / 20 prompts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403" y="2029968"/>
            <a:ext cx="2471851" cy="1225296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9403" y="2029968"/>
            <a:ext cx="44450" cy="1225296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5435" y="2231136"/>
            <a:ext cx="197807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4A03C"/>
                </a:solidFill>
                <a:latin typeface="Georgia"/>
              </a:rPr>
              <a:t>15 / 15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golden prompts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A97B0"/>
                </a:solidFill>
                <a:latin typeface="Segoe UI"/>
              </a:rPr>
              <a:t>grounding &amp; integrity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0439" y="2029968"/>
            <a:ext cx="2471851" cy="1225296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0439" y="2029968"/>
            <a:ext cx="44450" cy="1225296"/>
          </a:xfrm>
          <a:prstGeom prst="rect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6471" y="2231136"/>
            <a:ext cx="197807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87A6B"/>
                </a:solidFill>
                <a:latin typeface="Georgia"/>
              </a:rPr>
              <a:t>5 / 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adversarial refusals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A97B0"/>
                </a:solidFill>
                <a:latin typeface="Segoe UI"/>
              </a:rPr>
              <a:t>injection defence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475" y="2029968"/>
            <a:ext cx="2471851" cy="1225296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61475" y="2029968"/>
            <a:ext cx="44450" cy="1225296"/>
          </a:xfrm>
          <a:prstGeom prst="rect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7507" y="2231136"/>
            <a:ext cx="197807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8B7AD4"/>
                </a:solidFill>
                <a:latin typeface="Georgia"/>
              </a:rPr>
              <a:t>147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5F0E6"/>
                </a:solidFill>
                <a:latin typeface="Segoe UI"/>
              </a:rPr>
              <a:t>automated tests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A97B0"/>
                </a:solidFill>
                <a:latin typeface="Segoe UI"/>
              </a:rPr>
              <a:t>6 NUnit suites, all 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6537960" cy="267004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547872"/>
            <a:ext cx="44450" cy="2670048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76732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4A03C"/>
                </a:solidFill>
                <a:latin typeface="Georgia"/>
              </a:rPr>
              <a:t>Coverage by category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297680"/>
            <a:ext cx="64008" cy="64008"/>
          </a:xfrm>
          <a:prstGeom prst="ellipse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416966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Consolas"/>
              </a:rPr>
              <a:t>GroundedRAG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1" y="4169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Segoe U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16966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Cited answers from version-filtered policy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" y="4636008"/>
            <a:ext cx="64008" cy="64008"/>
          </a:xfrm>
          <a:prstGeom prst="ellipse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45079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Consolas"/>
              </a:rPr>
              <a:t>FinancialIntegrity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1" y="45079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4A03C"/>
                </a:solidFill>
                <a:latin typeface="Segoe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50799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Zero-income guard, verified-over-stated precedence</a:t>
            </a:r>
          </a:p>
        </p:txBody>
      </p:sp>
      <p:sp>
        <p:nvSpPr>
          <p:cNvPr id="30" name="Oval 29"/>
          <p:cNvSpPr/>
          <p:nvPr/>
        </p:nvSpPr>
        <p:spPr>
          <a:xfrm>
            <a:off x="932688" y="4974336"/>
            <a:ext cx="64008" cy="64008"/>
          </a:xfrm>
          <a:prstGeom prst="ellipse">
            <a:avLst/>
          </a:prstGeom>
          <a:solidFill>
            <a:srgbClr val="8B7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4846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Consolas"/>
              </a:rPr>
              <a:t>MissingEvidence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1" y="4846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7AD4"/>
                </a:solidFill>
                <a:latin typeface="Segoe U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48463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Honest cannot-verify with zero citations</a:t>
            </a:r>
          </a:p>
        </p:txBody>
      </p:sp>
      <p:sp>
        <p:nvSpPr>
          <p:cNvPr id="34" name="Oval 33"/>
          <p:cNvSpPr/>
          <p:nvPr/>
        </p:nvSpPr>
        <p:spPr>
          <a:xfrm>
            <a:off x="932688" y="5312664"/>
            <a:ext cx="64008" cy="64008"/>
          </a:xfrm>
          <a:prstGeom prst="ellipse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15568" y="51846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Consolas"/>
              </a:rPr>
              <a:t>OfficerExclusivity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4911" y="5184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7A6B"/>
                </a:solidFill>
                <a:latin typeface="Segoe U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3552" y="518464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AI never issues a final decision</a:t>
            </a:r>
          </a:p>
        </p:txBody>
      </p:sp>
      <p:sp>
        <p:nvSpPr>
          <p:cNvPr id="38" name="Oval 37"/>
          <p:cNvSpPr/>
          <p:nvPr/>
        </p:nvSpPr>
        <p:spPr>
          <a:xfrm>
            <a:off x="932688" y="5650992"/>
            <a:ext cx="64008" cy="64008"/>
          </a:xfrm>
          <a:prstGeom prst="ellipse">
            <a:avLst/>
          </a:prstGeom>
          <a:solidFill>
            <a:srgbClr val="E8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5568" y="552297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Consolas"/>
              </a:rPr>
              <a:t>PromptInjection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1" y="55229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7A6B"/>
                </a:solidFill>
                <a:latin typeface="Segoe U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552297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Override, prompt-disclosure and jailbreak attempts</a:t>
            </a:r>
          </a:p>
        </p:txBody>
      </p:sp>
      <p:sp>
        <p:nvSpPr>
          <p:cNvPr id="42" name="Oval 41"/>
          <p:cNvSpPr/>
          <p:nvPr/>
        </p:nvSpPr>
        <p:spPr>
          <a:xfrm>
            <a:off x="932688" y="5989320"/>
            <a:ext cx="64008" cy="64008"/>
          </a:xfrm>
          <a:prstGeom prst="ellipse">
            <a:avLst/>
          </a:prstGeom>
          <a:solidFill>
            <a:srgbClr val="F0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15568" y="586130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0E6"/>
                </a:solidFill>
                <a:latin typeface="Consolas"/>
              </a:rPr>
              <a:t>Boundary case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4911" y="58613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86B"/>
                </a:solidFill>
                <a:latin typeface="Segoe U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3552" y="586130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A97B0"/>
                </a:solidFill>
                <a:latin typeface="Segoe UI"/>
              </a:rPr>
              <a:t>Max loan amount at policy ceiling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62088" y="3547872"/>
            <a:ext cx="3971239" cy="2670048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62088" y="3547872"/>
            <a:ext cx="44450" cy="2670048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18120" y="3767328"/>
            <a:ext cx="345917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3DC8B4"/>
                </a:solidFill>
                <a:latin typeface="Georgia"/>
              </a:rPr>
              <a:t>Measured per prompt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Expected keyword match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Citation count and validity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Non-approval disclaimer present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Latency in milliseconds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Prompt / completion / total tokens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 i="0">
                <a:solidFill>
                  <a:srgbClr val="C6CEDE"/>
                </a:solidFill>
                <a:latin typeface="Segoe UI"/>
              </a:rPr>
              <a:t>✓  Pass or fail verdict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evaluation_results.json  ·  evaluation_report.md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76656"/>
            <a:ext cx="310896" cy="381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" y="566928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spc="160">
                <a:solidFill>
                  <a:srgbClr val="D4A03C"/>
                </a:solidFill>
                <a:latin typeface="Segoe UI"/>
              </a:rPr>
              <a:t>DELIVERY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F5F0E6"/>
                </a:solidFill>
                <a:latin typeface="Georgia"/>
              </a:rPr>
              <a:t>Ten vertical slices, built and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3263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B0"/>
                </a:solidFill>
                <a:latin typeface="Segoe UI"/>
              </a:rPr>
              <a:t>Build passing with zero errors and zero warnings. Verified locally across all four personas on SQL Server and Azure Blob storage.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48840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39696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SQL Server + EF Core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5103" y="214884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6159" y="2029968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6159" y="2029968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5615" y="2148840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4527" y="2139696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Azure OpenAI chat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214884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9464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2569464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268833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2679192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Azure AI Search RAG &amp; policy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103" y="268833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6159" y="2569464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6159" y="2569464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5615" y="268833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4527" y="2679192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Synthetic document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268833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08960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108960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322783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3218688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Typed verification tools &amp; MCP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5103" y="322783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6159" y="3108960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6159" y="3108960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25615" y="322783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4527" y="3218688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Deterministic DTI &amp; eligibility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322783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648456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" y="3648456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7824" y="376732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6736" y="3758184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Multi-agent orchestration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15103" y="3767328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6159" y="3648456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6159" y="3648456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25615" y="376732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4527" y="3758184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Officer review &amp; audit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3767328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187952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4187952"/>
            <a:ext cx="31750" cy="457200"/>
          </a:xfrm>
          <a:prstGeom prst="rect">
            <a:avLst/>
          </a:prstGeom>
          <a:solidFill>
            <a:srgbClr val="3D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7824" y="4306824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C8B4"/>
                </a:solidFill>
                <a:latin typeface="Consola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6736" y="4297680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Security &amp; prompt refusal suite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15103" y="430682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3DC8B4"/>
                </a:solidFill>
                <a:latin typeface="Segoe UI"/>
              </a:rPr>
              <a:t>✓  Complete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6159" y="4187952"/>
            <a:ext cx="5227167" cy="457200"/>
          </a:xfrm>
          <a:prstGeom prst="rect">
            <a:avLst/>
          </a:prstGeom>
          <a:solidFill>
            <a:srgbClr val="111F43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06159" y="4187952"/>
            <a:ext cx="3175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25615" y="4306824"/>
            <a:ext cx="384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4A03C"/>
                </a:solidFill>
                <a:latin typeface="Consolas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4527" y="4297680"/>
            <a:ext cx="3352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0E6"/>
                </a:solidFill>
                <a:latin typeface="Segoe UI"/>
              </a:rPr>
              <a:t>Telemetry, evaluation &amp; resilience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62895" y="430682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D4A03C"/>
                </a:solidFill>
                <a:latin typeface="Segoe UI"/>
              </a:rPr>
              <a:t>●  In progress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5001768"/>
            <a:ext cx="10874959" cy="1243584"/>
          </a:xfrm>
          <a:prstGeom prst="rect">
            <a:avLst/>
          </a:prstGeom>
          <a:solidFill>
            <a:srgbClr val="1B2C57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8368" y="5001768"/>
            <a:ext cx="44450" cy="124358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0976" y="5202936"/>
            <a:ext cx="10289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D4A03C"/>
                </a:solidFill>
                <a:latin typeface="Georgia"/>
              </a:rPr>
              <a:t>NEXT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" y="5550408"/>
            <a:ext cx="321045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5F0E6"/>
                </a:solidFill>
                <a:latin typeface="Segoe UI"/>
              </a:rPr>
              <a:t>Cloud deployment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B0"/>
                </a:solidFill>
                <a:latin typeface="Segoe UI"/>
              </a:rPr>
              <a:t>Azure App Service with configuration separated from code and a documented rollback path.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90618" y="5550408"/>
            <a:ext cx="321045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5F0E6"/>
                </a:solidFill>
                <a:latin typeface="Segoe UI"/>
              </a:rPr>
              <a:t>Observability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B0"/>
                </a:solidFill>
                <a:latin typeface="Segoe UI"/>
              </a:rPr>
              <a:t>Application Insights / OpenTelemetry export of the existing telemetry collectors.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30260" y="5550408"/>
            <a:ext cx="321045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5F0E6"/>
                </a:solidFill>
                <a:latin typeface="Segoe UI"/>
              </a:rPr>
              <a:t>Live-model evaluation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B0"/>
                </a:solidFill>
                <a:latin typeface="Segoe UI"/>
              </a:rPr>
              <a:t>Re-run the 20-prompt suite against gpt-4o to capture real token and latency baselines.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34593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Segoe UI"/>
              </a:rPr>
              <a:t>Loan Application &amp; Compliance Review Assistant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53167" y="634593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7B0"/>
                </a:solidFill>
                <a:latin typeface="Consola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noFill/>
          <a:ln w="12700">
            <a:solidFill>
              <a:srgbClr val="D4A03C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76895" y="1691640"/>
            <a:ext cx="3474720" cy="3474720"/>
          </a:xfrm>
          <a:prstGeom prst="ellipse">
            <a:avLst/>
          </a:prstGeom>
          <a:noFill/>
          <a:ln w="12700">
            <a:solidFill>
              <a:srgbClr val="D4A03C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spc="180">
                <a:solidFill>
                  <a:srgbClr val="D4A03C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48256"/>
            <a:ext cx="749807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5F0E6"/>
                </a:solidFill>
                <a:latin typeface="Georgia"/>
              </a:rPr>
              <a:t>AI that prepares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D4A03C"/>
                </a:solidFill>
                <a:latin typeface="Georgia"/>
              </a:rPr>
              <a:t>decision — people make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712463"/>
            <a:ext cx="1371600" cy="3175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005072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6CEDE"/>
                </a:solidFill>
                <a:latin typeface="Segoe UI"/>
              </a:rPr>
              <a:t>Grounded retrieval, deterministic domain rules, bounded agents and an audited officer approval — delivered on the mandated .NET 8 Clean Architecture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0292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Aayush Mathur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7B0"/>
                </a:solidFill>
                <a:latin typeface="Segoe UI"/>
              </a:rPr>
              <a:t>CapGemini AI Launchpad · Capstone Use Case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5870448"/>
            <a:ext cx="1356956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4A03C"/>
                </a:solidFill>
                <a:latin typeface="Segoe UI"/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2503</Words>
  <Application>Microsoft Office PowerPoint</Application>
  <PresentationFormat>Widescreen</PresentationFormat>
  <Paragraphs>480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 Mathur</cp:lastModifiedBy>
  <cp:revision>3</cp:revision>
  <dcterms:created xsi:type="dcterms:W3CDTF">2013-01-27T09:14:16Z</dcterms:created>
  <dcterms:modified xsi:type="dcterms:W3CDTF">2026-09-17T01:35:09Z</dcterms:modified>
  <cp:category/>
</cp:coreProperties>
</file>